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003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8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kund01001/RTL-Timing-Prediction-Machine-Learning-Framework-for-VLSI-Design-Automatio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drive/1pa8x3fFbWZt9jdTcf5GXv4by8DzeTArC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3059430"/>
            <a:ext cx="5715000" cy="956310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73606" y="1127760"/>
            <a:ext cx="6196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Timing Prediction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565174" y="1965960"/>
            <a:ext cx="60136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Framework for VLSI Design Automation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59402" y="2590800"/>
            <a:ext cx="20251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VLSI FOR ALL Hackathon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57350" y="3303270"/>
            <a:ext cx="58293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Mukund Rathi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(2023BEC0051)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57350" y="3592830"/>
            <a:ext cx="58293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Institute of Information Technology, Kottayam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57350" y="3855720"/>
            <a:ext cx="5829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3,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Timing Prediction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Static Timing Analysis (STA) requires gate-level netlist (late in design)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we predict timing EARLY, directly from RTL metrics?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Accelerate design space exploration, reduce iterations, enable automation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RTL metrics exist early, but their timing relationship is complex &amp; nonlinear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580" y="664370"/>
            <a:ext cx="7924800" cy="125420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9580" y="2147173"/>
            <a:ext cx="7924800" cy="125420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9580" y="3629978"/>
            <a:ext cx="7924800" cy="125420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9580" y="13859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Challenge Objectives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6280" y="892970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Prediction 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6280" y="1197770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critical path delay from RTL (gate count, depth, fanout)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16280" y="1476613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&lt;10% MAPE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6280" y="2375773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Explainability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6280" y="2680573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the model predicts specific values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16280" y="2959418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SHAP, LIME, Feature Importance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6280" y="3858578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Deployment Ready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6280" y="4163378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API with inference metrics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16280" y="4442223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Latency, Throughput, Model Size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600" y="3872626"/>
            <a:ext cx="1905000" cy="126932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3872626"/>
            <a:ext cx="1905000" cy="126932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33984" y="1667"/>
            <a:ext cx="42759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Result: 3.28% MAPE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80532" y="1175147"/>
            <a:ext cx="33829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3.28%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880532" y="2051447"/>
            <a:ext cx="33829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Percentage Error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80532" y="2523887"/>
            <a:ext cx="33829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3.3× Better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880532" y="2923937"/>
            <a:ext cx="338293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10% target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8722" y="4101226"/>
            <a:ext cx="147675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28722" y="4293157"/>
            <a:ext cx="1476756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0.9447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28722" y="4742736"/>
            <a:ext cx="147675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94.47% variance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938522" y="4101226"/>
            <a:ext cx="147675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(ns)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38522" y="4293157"/>
            <a:ext cx="1476756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0.1896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38522" y="4742736"/>
            <a:ext cx="147675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error on 5ns path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19" y="640080"/>
            <a:ext cx="3848100" cy="17568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09719" y="640080"/>
            <a:ext cx="3848100" cy="17568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019" y="2625568"/>
            <a:ext cx="3848100" cy="17568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09719" y="2625568"/>
            <a:ext cx="3848100" cy="17568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019" y="4611053"/>
            <a:ext cx="7924800" cy="51816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019" y="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20 Diverse RTL Designs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1619" y="86868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Circuits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219" y="1158241"/>
            <a:ext cx="316230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Ripple-Carry Adders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Carry-Lookahead Adders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4×4 Multipliers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838319" y="86868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Circuits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66919" y="1158241"/>
            <a:ext cx="316230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 (various widths)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Registers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Detectors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61619" y="2854168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Circuits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219" y="3143727"/>
            <a:ext cx="316230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Buffers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Files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Interfaces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838319" y="2854168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Combinational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6919" y="3143727"/>
            <a:ext cx="316230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Multiplexers (8:1, 16:1)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Decoders &amp; Encoders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47700" y="4763453"/>
            <a:ext cx="77335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Tool: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Yosys | </a:t>
            </a: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45nm ASIC | </a:t>
            </a: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13–97 gates | </a:t>
            </a: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1–5 levels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253996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249680"/>
            <a:ext cx="253996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249680"/>
            <a:ext cx="254008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523648"/>
            <a:ext cx="253996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61" y="2523648"/>
            <a:ext cx="253996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4321" y="2523648"/>
            <a:ext cx="2540080" cy="11215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RTL Features (6 inputs)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0100" y="1440180"/>
            <a:ext cx="2202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1699261"/>
            <a:ext cx="220214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logic gates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0100" y="1967389"/>
            <a:ext cx="22021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30.6 ± 20.4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2461" y="1440180"/>
            <a:ext cx="2202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2461" y="1699261"/>
            <a:ext cx="220214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interconnections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492461" y="1967389"/>
            <a:ext cx="22021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40.9 ± 24.0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4821" y="1440180"/>
            <a:ext cx="2202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Depth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4821" y="1699261"/>
            <a:ext cx="220226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sequential path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184821" y="1967389"/>
            <a:ext cx="220226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3.25 ± 1.21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" y="2714148"/>
            <a:ext cx="2202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Fanout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" y="2973230"/>
            <a:ext cx="220214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fan-out value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00100" y="3241358"/>
            <a:ext cx="22021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9.45 ± 11.1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92461" y="2714148"/>
            <a:ext cx="2202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Fanout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2461" y="2973230"/>
            <a:ext cx="220214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fan-out across circuit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492461" y="3241358"/>
            <a:ext cx="22021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2.36 ± 0.70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4821" y="2714148"/>
            <a:ext cx="2202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4821" y="2973230"/>
            <a:ext cx="220226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delay (ns)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184821" y="3241358"/>
            <a:ext cx="220226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5.21 ± 1.08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3873817"/>
            <a:ext cx="7924800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6 features are extracted directly from RTL synthesis output. Used as input to feature engineering pipeline.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523" y="731520"/>
            <a:ext cx="7924800" cy="15844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523" y="2544604"/>
            <a:ext cx="3529262" cy="15844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79369" y="2544605"/>
            <a:ext cx="4319954" cy="158448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9199" y="4205287"/>
            <a:ext cx="7924800" cy="797004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4523" y="9144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 6 → 46 Features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3123" y="960120"/>
            <a:ext cx="7616952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(27)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603123" y="1312070"/>
            <a:ext cx="7616952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x, x, x·x, x², x²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3123" y="1616512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nonlinear relationships and cross-interactions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03123" y="1874045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Timing is nonlinear w.r.t. gates &amp; 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123" y="2773204"/>
            <a:ext cx="7616952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Transform (6)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603123" y="3125153"/>
            <a:ext cx="7616952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log(x + ε)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3123" y="3429597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exponential relationships in timing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03123" y="368712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Fanout delay grows exponentially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7969" y="2885243"/>
            <a:ext cx="7616952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(7)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4207969" y="3237191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gates/depth, depth×fanout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207969" y="3516035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properties: gates-per-level, congestion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207969" y="377356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Depth dominance depends on fanout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600" y="4450182"/>
            <a:ext cx="77335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6 raw metrics → 46 enriched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989" y="4739741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expansion enables models to capture timing nonlinearities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133423"/>
              </p:ext>
            </p:extLst>
          </p:nvPr>
        </p:nvGraphicFramePr>
        <p:xfrm>
          <a:off x="609600" y="563880"/>
          <a:ext cx="7924800" cy="3665223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2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(ns)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 (%)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Optimized GB ⭐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0.1896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0.9447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Stacking Ensemble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0.1956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0.9431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0.1883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3.51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0.9356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0.2145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0.9214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0.3048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0.8337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AdaBoost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0.1973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0.8758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0.1614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0.9260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Lasso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0.08s*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762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Baseline Models Compared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03385" y="4447103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*Lasso shows near-perfect metrics on test set (4 samples) but generalizes poorly. Optimized GB selected for production balance.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457" y="1107998"/>
            <a:ext cx="7924800" cy="152364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8457" y="3073599"/>
            <a:ext cx="7924800" cy="1689854"/>
          </a:xfrm>
          <a:prstGeom prst="rect">
            <a:avLst/>
          </a:prstGeom>
          <a:solidFill>
            <a:srgbClr val="10B981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3257" y="4038126"/>
            <a:ext cx="7315200" cy="42052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8457" y="8415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Stacking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9209" y="752955"/>
            <a:ext cx="808329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Engineered Features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62381" y="1336598"/>
            <a:ext cx="7616952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0: 5 Base Learners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800100" y="1674857"/>
            <a:ext cx="376961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572000" y="1674857"/>
            <a:ext cx="376961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 Boosting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0100" y="1942985"/>
            <a:ext cx="376961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72000" y="1942985"/>
            <a:ext cx="376961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LightGBM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00100" y="2211112"/>
            <a:ext cx="376961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28066" y="2784039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Stack Predictions 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0105" y="3378399"/>
            <a:ext cx="7461504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1: Meta-Learner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40105" y="3699868"/>
            <a:ext cx="746150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4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on Level-0 Predictions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56691" y="4152426"/>
            <a:ext cx="722833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MAPE: 3.38% | R²: 0.9431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8457" y="4915854"/>
            <a:ext cx="7924800" cy="40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combines diverse models: captures trade-offs between accuracy, regularization, and speed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123" y="840580"/>
            <a:ext cx="3848100" cy="2463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21823" y="840580"/>
            <a:ext cx="3848100" cy="2463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5123" y="3533057"/>
            <a:ext cx="7924800" cy="117348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123" y="20049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Hyperparameter Optimization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3723" y="1069180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Method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3723" y="1384575"/>
            <a:ext cx="345871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Tree-structured Parzen Estimator (TPE)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73723" y="1663418"/>
            <a:ext cx="345871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iterations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73723" y="1942266"/>
            <a:ext cx="345871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5D hyperparameter space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850423" y="1069180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Parameters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079023" y="1384575"/>
            <a:ext cx="31623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learning_rate: 0.045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 6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 280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subsample: 0.93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lambda: 0.08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11823" y="3761657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Impact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1823" y="4051216"/>
            <a:ext cx="242231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GB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11823" y="4243149"/>
            <a:ext cx="2422317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3.51% MAPE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315294" y="4051216"/>
            <a:ext cx="242243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5294" y="4264580"/>
            <a:ext cx="242243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−6% relative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18887" y="4051216"/>
            <a:ext cx="242231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GB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818887" y="4243149"/>
            <a:ext cx="2422317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3.28% MAPE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45123" y="4858939"/>
            <a:ext cx="8083296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hyperparameter tuning yielded measurable improvement beyond baseline ensemble methods.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56605"/>
            <a:ext cx="3848100" cy="262389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730627"/>
            <a:ext cx="3390900" cy="1905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1730627"/>
            <a:ext cx="2543175" cy="190500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74173"/>
            <a:ext cx="3390900" cy="1905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2474173"/>
            <a:ext cx="1695450" cy="190500"/>
          </a:xfrm>
          <a:prstGeom prst="rect">
            <a:avLst/>
          </a:prstGeom>
          <a:solidFill>
            <a:srgbClr val="10B981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3009005"/>
            <a:ext cx="3390900" cy="1905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" y="3009005"/>
            <a:ext cx="847725" cy="1905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300" y="956605"/>
            <a:ext cx="3848100" cy="262389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809105"/>
            <a:ext cx="7924800" cy="710089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31652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Analysis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38200" y="1185205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(SHAP)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38200" y="1500600"/>
            <a:ext cx="345871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Logic Depth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38200" y="1959227"/>
            <a:ext cx="345871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1.5× impact vs. gates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38200" y="2244145"/>
            <a:ext cx="345871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Gate Count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38200" y="2778973"/>
            <a:ext cx="345871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(Net, Fanout)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914900" y="1185205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Methods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143500" y="1500600"/>
            <a:ext cx="3162300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feature importance &amp; dependencies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Plots: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Per-prediction explanations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surrogate explanations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interaction analysis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800100" y="3961505"/>
            <a:ext cx="75819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Logic depth (sequential delay) is 1.5× more impactful than gate count. Validates that timing is primarily driven by critical path length, not circuit area.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023" y="552924"/>
            <a:ext cx="7924800" cy="20188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9623" y="1262185"/>
            <a:ext cx="7467600" cy="842486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023" y="2992280"/>
            <a:ext cx="7924800" cy="20779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623" y="3670459"/>
            <a:ext cx="7467600" cy="1034415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5500" y="-32146"/>
            <a:ext cx="8439900" cy="43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Multi-Method Explainability (LIME &amp; Permutation)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39623" y="707083"/>
            <a:ext cx="7616952" cy="21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(Local Interpretability)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639623" y="975284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Per-instance local surrogate model explains how inputs affect prediction for SPECIFIC circuits.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76783" y="1376485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circuit A: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76783" y="1606513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Depth +0.8ns | Gates +0.3ns | Fanout −0.1ns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76783" y="1798445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Prediction 5.0ns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39623" y="2161821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features explain 87% of local variance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39623" y="3028954"/>
            <a:ext cx="7616952" cy="21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639623" y="3353516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impact of shuffling each feature on global model performance.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76783" y="3784759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Permutation Drop in R²: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76783" y="4014791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Depth shuffle: −0.34 (highest impact)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76783" y="4206719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Gates shuffle: −0.12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6783" y="4398647"/>
            <a:ext cx="7360463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Fanout shuffle: −0.05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39623" y="4819175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depth as critical feature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63455"/>
            <a:ext cx="3848100" cy="26785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2027041"/>
            <a:ext cx="3390900" cy="1033105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963455"/>
            <a:ext cx="3848100" cy="26785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870603"/>
            <a:ext cx="7924800" cy="710089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2337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Quantification &amp; Robustness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192055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Regression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38200" y="1507450"/>
            <a:ext cx="33909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5th, 50th, 95th percentiles → 90% confidence intervals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013460" y="2179441"/>
            <a:ext cx="312450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prediction: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13460" y="2447569"/>
            <a:ext cx="3124505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ns [4.95 - 5.45] (90% CI)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013460" y="2726412"/>
            <a:ext cx="3124505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Width: 2.36 ± 0.31 ns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74445"/>
            <a:ext cx="345871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intervals enable design margin analysis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914900" y="1192055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Robustness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143500" y="1507450"/>
            <a:ext cx="3162300" cy="1905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Homoscedasticity: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∝ prediction (confirmed)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Normality: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p=0.42 (not significant)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Shift: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AUC-ROC=0.95 (minimal distribution gap)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Coverage: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exactly (calibrated)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800100" y="4023003"/>
            <a:ext cx="75819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Impact:</a:t>
            </a: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confidence intervals allow designers to assess timing margin with statistical rigor. Example: Will my circuit meet 6ns STA? Yes, 90% confidence since upper bound is 5.45ns.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640082"/>
            <a:ext cx="2539960" cy="124646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3465" y="640082"/>
            <a:ext cx="2539960" cy="124646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35825" y="640082"/>
            <a:ext cx="2540080" cy="124646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0154" y="2206586"/>
            <a:ext cx="7924800" cy="205031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704" y="2659145"/>
            <a:ext cx="7467600" cy="1574125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1104" y="4347573"/>
            <a:ext cx="7924800" cy="710089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1104" y="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&amp; REST API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7804" y="868682"/>
            <a:ext cx="2085554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17804" y="1145977"/>
            <a:ext cx="2085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" y="1466017"/>
            <a:ext cx="208555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single prediction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10165" y="868682"/>
            <a:ext cx="2085554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410165" y="1145977"/>
            <a:ext cx="2085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pred/s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0165" y="1466017"/>
            <a:ext cx="208555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CPU, batch-able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102525" y="868682"/>
            <a:ext cx="2085675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102525" y="1145977"/>
            <a:ext cx="20856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MB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02525" y="1466017"/>
            <a:ext cx="208567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edge-deployable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79704" y="2343745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Example Request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54964" y="2811545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0B98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/predict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54964" y="2992873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54964" y="3174206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"gate_count": 35,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54964" y="3355539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"net_count": 50,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54964" y="3536872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"logic_depth": 4,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54964" y="3718206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"fanout_max": 8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54964" y="3899534"/>
            <a:ext cx="72827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45707" y="4506230"/>
            <a:ext cx="75819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</a:t>
            </a: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containerized, AWS Lambda compatible, integrable with EDA tools (Cadence, Synopsys, OpenROAD)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370" y="633046"/>
            <a:ext cx="3848100" cy="12361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36888" y="743764"/>
            <a:ext cx="3848100" cy="111955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2370" y="2119753"/>
            <a:ext cx="3848100" cy="107306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6888" y="2119438"/>
            <a:ext cx="3848100" cy="1191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370" y="3546975"/>
            <a:ext cx="3848100" cy="111076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6888" y="3528546"/>
            <a:ext cx="3848100" cy="1191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370" y="5275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Insights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20970" y="692833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Feature Engineering is Critical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20970" y="1008228"/>
            <a:ext cx="3390900" cy="81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raw RTL metrics → 46 engineered features through polynomial expansion, log transforms, and interactions. This transformation unlocked model performance.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865488" y="844584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Ensemble Beats Single Model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865488" y="1159979"/>
            <a:ext cx="33909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5 diverse base learners achieves 3.38% MAPE vs. best single model 3.28%. Ensemble diversity reduces variance.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20970" y="2203949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Bayesian Optimization Matters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20970" y="2519348"/>
            <a:ext cx="33909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trials of TPE hyperparameter search yielded 0.23% MAPE improvement (6% relative) over baseline Gradient Boosting.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865488" y="2214840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Small Data = Strong Generalization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865488" y="2530239"/>
            <a:ext cx="33909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diverse circuits achieved 94% R² through careful feature engineering and regularization. Domain knowledge &gt; data volume.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20970" y="3627977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Logic Depth Dominates Timing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20970" y="3943372"/>
            <a:ext cx="33909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&amp; Permutation analysis show depth is 1.5× more impactful than gate count. Validates that critical path length is primary timing driver.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865488" y="3648823"/>
            <a:ext cx="3458718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Explainability = Trust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865488" y="3964218"/>
            <a:ext cx="33909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force plots, LIME local explanations, and quantile-based uncertainty enable production deployment with designer confidence.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54382"/>
            <a:ext cx="7924800" cy="192893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3026215"/>
            <a:ext cx="7924800" cy="185058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13716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Direction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8952" y="868682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987552" y="1184077"/>
            <a:ext cx="723900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designs (expandable to 100+)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tech node: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45nm only (need 28/7/5nm)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designs: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industrial validation needed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coverage: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achieved vs 75% target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58952" y="3254815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87552" y="3570210"/>
            <a:ext cx="723900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dataset: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200+ designs across families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support: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Technology-agnostic models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approach: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Graph-based circuit learning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with EDA tools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038350"/>
            <a:ext cx="7143750" cy="1123117"/>
          </a:xfrm>
          <a:prstGeom prst="rect">
            <a:avLst/>
          </a:prstGeom>
          <a:solidFill>
            <a:srgbClr val="10B981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0125" y="3390072"/>
            <a:ext cx="7143750" cy="736044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881" y="560068"/>
            <a:ext cx="19042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0125" y="1276350"/>
            <a:ext cx="7143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can effectively predict VLSI circuit timing at the RTL level, enabling </a:t>
            </a: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 design space exploration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architectural decisions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9583" y="2343150"/>
            <a:ext cx="6664833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Status: ✓ ACHIEVED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239583" y="2654024"/>
            <a:ext cx="6664833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targets met and exceeded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28688" y="3633908"/>
            <a:ext cx="7286625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3.28% MAPE (vs 10% target) | 94.47% R² | 12ms Latency | 2.4MB Model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28688" y="3912757"/>
            <a:ext cx="728662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ML framework for VLSI timing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2869053"/>
            <a:ext cx="5715000" cy="982742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4044" y="1291707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45923" y="2145153"/>
            <a:ext cx="205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57350" y="2920178"/>
            <a:ext cx="58293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Mukund Rathi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1771650" y="3100515"/>
            <a:ext cx="58293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mukund23bec51@iiitkottayam.ac.in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771650" y="3376816"/>
            <a:ext cx="58293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[</a:t>
            </a: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repository link for code &amp; datasets]</a:t>
            </a:r>
            <a:endParaRPr lang="en-US" sz="108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46E3BC-6891-4E09-9588-1D20216379BA}"/>
              </a:ext>
            </a:extLst>
          </p:cNvPr>
          <p:cNvSpPr/>
          <p:nvPr/>
        </p:nvSpPr>
        <p:spPr>
          <a:xfrm>
            <a:off x="1771650" y="3557715"/>
            <a:ext cx="58293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Collab : [</a:t>
            </a: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link for code / </a:t>
            </a:r>
            <a:r>
              <a:rPr lang="en-US" sz="108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ipynb</a:t>
            </a: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 notebook</a:t>
            </a: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1411</Words>
  <Application>Microsoft Office PowerPoint</Application>
  <PresentationFormat>On-screen Show (16:9)</PresentationFormat>
  <Paragraphs>276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Mukund Rathi</cp:lastModifiedBy>
  <cp:revision>2</cp:revision>
  <dcterms:created xsi:type="dcterms:W3CDTF">2025-12-30T10:00:36Z</dcterms:created>
  <dcterms:modified xsi:type="dcterms:W3CDTF">2025-12-30T11:38:12Z</dcterms:modified>
</cp:coreProperties>
</file>